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1382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org&amp;utm_campaign=index&amp;utm_content=origi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00" cy="31546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0848320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6800" b="1" dirty="0">
                <a:solidFill>
                  <a:schemeClr val="tx2">
                    <a:lumMod val="75000"/>
                  </a:schemeClr>
                </a:solidFill>
              </a:rPr>
              <a:t>When Players Push Back</a:t>
            </a:r>
            <a:endParaRPr sz="6800" b="1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084832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Review bombs, </a:t>
            </a:r>
            <a:r>
              <a:rPr lang="en-US"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C</a:t>
            </a: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omplaint </a:t>
            </a:r>
            <a:r>
              <a:rPr lang="en-US" sz="300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T</a:t>
            </a: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ypes and </a:t>
            </a:r>
            <a:r>
              <a:rPr lang="en-US"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P</a:t>
            </a: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layer </a:t>
            </a:r>
            <a:r>
              <a:rPr lang="en-US" sz="300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C</a:t>
            </a: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ommunities</a:t>
            </a:r>
            <a:r>
              <a:rPr lang="en-US"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A</a:t>
            </a: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cross 24 </a:t>
            </a:r>
            <a:r>
              <a:rPr lang="en-US"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C</a:t>
            </a: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ontroversial Steam </a:t>
            </a:r>
            <a:r>
              <a:rPr lang="en-US"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G</a:t>
            </a:r>
            <a:r>
              <a:rPr sz="3000" b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39" y="1887072"/>
            <a:ext cx="20848320" cy="8710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COMP3020 Social Web Analytics  </a:t>
            </a:r>
            <a:endParaRPr lang="en-US" sz="2400" b="0" dirty="0">
              <a:solidFill>
                <a:schemeClr val="tx2">
                  <a:lumMod val="50000"/>
                </a:schemeClr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Group </a:t>
            </a:r>
            <a:r>
              <a:rPr lang="en-US"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5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: </a:t>
            </a: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[</a:t>
            </a:r>
            <a:r>
              <a:rPr lang="en-AU" sz="2400" dirty="0">
                <a:solidFill>
                  <a:schemeClr val="tx2">
                    <a:lumMod val="50000"/>
                  </a:schemeClr>
                </a:solidFill>
              </a:rPr>
              <a:t>Tuyet Nghi Khuu</a:t>
            </a: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– </a:t>
            </a:r>
            <a:r>
              <a:rPr lang="en-AU" sz="2400" dirty="0">
                <a:solidFill>
                  <a:schemeClr val="tx2">
                    <a:lumMod val="50000"/>
                  </a:schemeClr>
                </a:solidFill>
              </a:rPr>
              <a:t>22200297</a:t>
            </a: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]   [</a:t>
            </a:r>
            <a:r>
              <a:rPr lang="en-AU" sz="2400" dirty="0">
                <a:solidFill>
                  <a:schemeClr val="tx2">
                    <a:lumMod val="50000"/>
                  </a:schemeClr>
                </a:solidFill>
              </a:rPr>
              <a:t>Le Khanh Chi Doan</a:t>
            </a: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– </a:t>
            </a:r>
            <a:r>
              <a:rPr lang="en-AU" sz="2400" dirty="0">
                <a:solidFill>
                  <a:schemeClr val="tx2">
                    <a:lumMod val="50000"/>
                  </a:schemeClr>
                </a:solidFill>
              </a:rPr>
              <a:t>22165400</a:t>
            </a: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]   [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Merina Phongsisattanak </a:t>
            </a: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–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22172673</a:t>
            </a:r>
            <a:r>
              <a:rPr sz="2400" b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0149840" cy="338328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1014984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520439"/>
            <a:ext cx="987552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dirty="0">
                <a:solidFill>
                  <a:srgbClr val="FFFFFF"/>
                </a:solidFill>
                <a:latin typeface="Calibri"/>
              </a:rPr>
              <a:t>Research questions: when → what → who → 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978408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10896" indent="-310896" algn="l">
              <a:spcAft>
                <a:spcPts val="400"/>
              </a:spcAft>
              <a:buChar char="•"/>
            </a:pPr>
            <a:r>
              <a:rPr sz="2200" b="1" dirty="0">
                <a:solidFill>
                  <a:srgbClr val="222B38"/>
                </a:solidFill>
                <a:latin typeface="Calibri"/>
              </a:rPr>
              <a:t>RQ1 </a:t>
            </a:r>
            <a:r>
              <a:rPr sz="2200" b="0" dirty="0">
                <a:solidFill>
                  <a:srgbClr val="222B38"/>
                </a:solidFill>
                <a:latin typeface="Calibri"/>
              </a:rPr>
              <a:t>When do negative reviews spike, and do spikes match real events?</a:t>
            </a:r>
          </a:p>
          <a:p>
            <a:pPr marL="310896" indent="-310896" algn="l">
              <a:spcAft>
                <a:spcPts val="400"/>
              </a:spcAft>
              <a:buChar char="•"/>
            </a:pPr>
            <a:r>
              <a:rPr sz="2200" b="1" dirty="0">
                <a:solidFill>
                  <a:srgbClr val="222B38"/>
                </a:solidFill>
                <a:latin typeface="Calibri"/>
              </a:rPr>
              <a:t>RQ2 </a:t>
            </a:r>
            <a:r>
              <a:rPr sz="2200" b="0" dirty="0">
                <a:solidFill>
                  <a:srgbClr val="222B38"/>
                </a:solidFill>
                <a:latin typeface="Calibri"/>
              </a:rPr>
              <a:t>Which words separate negative from positive reviews?</a:t>
            </a:r>
          </a:p>
          <a:p>
            <a:pPr marL="310896" indent="-310896" algn="l">
              <a:spcAft>
                <a:spcPts val="400"/>
              </a:spcAft>
              <a:buChar char="•"/>
            </a:pPr>
            <a:r>
              <a:rPr sz="2200" b="1" dirty="0">
                <a:solidFill>
                  <a:srgbClr val="222B38"/>
                </a:solidFill>
                <a:latin typeface="Calibri"/>
              </a:rPr>
              <a:t>RQ3 </a:t>
            </a:r>
            <a:r>
              <a:rPr sz="2200" b="0" dirty="0">
                <a:solidFill>
                  <a:srgbClr val="222B38"/>
                </a:solidFill>
                <a:latin typeface="Calibri"/>
              </a:rPr>
              <a:t>What do people complain about, and do games fail in the same way?</a:t>
            </a:r>
          </a:p>
          <a:p>
            <a:pPr marL="310896" indent="-310896" algn="l">
              <a:spcAft>
                <a:spcPts val="400"/>
              </a:spcAft>
              <a:buChar char="•"/>
            </a:pPr>
            <a:r>
              <a:rPr sz="2200" b="1" dirty="0">
                <a:solidFill>
                  <a:srgbClr val="222B38"/>
                </a:solidFill>
                <a:latin typeface="Calibri"/>
              </a:rPr>
              <a:t>RQ4 </a:t>
            </a:r>
            <a:r>
              <a:rPr sz="2200" b="0" dirty="0">
                <a:solidFill>
                  <a:srgbClr val="222B38"/>
                </a:solidFill>
                <a:latin typeface="Calibri"/>
              </a:rPr>
              <a:t>Do the same players review several games, and do those games share complaints?</a:t>
            </a:r>
          </a:p>
          <a:p>
            <a:pPr marL="310896" indent="-310896" algn="l">
              <a:spcAft>
                <a:spcPts val="0"/>
              </a:spcAft>
              <a:buChar char="•"/>
            </a:pPr>
            <a:r>
              <a:rPr sz="2200" b="1" dirty="0">
                <a:solidFill>
                  <a:srgbClr val="222B38"/>
                </a:solidFill>
                <a:latin typeface="Calibri"/>
              </a:rPr>
              <a:t>RQ5 </a:t>
            </a:r>
            <a:r>
              <a:rPr sz="2200" b="0" dirty="0">
                <a:solidFill>
                  <a:srgbClr val="222B38"/>
                </a:solidFill>
                <a:latin typeface="Calibri"/>
              </a:rPr>
              <a:t>How do negative reviewers differ from positive ones?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223760"/>
            <a:ext cx="10149840" cy="356616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7223760"/>
            <a:ext cx="1014984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7269480"/>
            <a:ext cx="987552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8092440"/>
            <a:ext cx="978408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10896" indent="-310896" algn="l">
              <a:spcAft>
                <a:spcPts val="600"/>
              </a:spcAft>
              <a:buChar char="•"/>
            </a:pPr>
            <a:r>
              <a:rPr sz="2200" b="0">
                <a:solidFill>
                  <a:srgbClr val="222B38"/>
                </a:solidFill>
                <a:latin typeface="Calibri"/>
              </a:rPr>
              <a:t>Steam public store endpoints (no API key), collected 29 Sep 2026 with Python; analysed in R</a:t>
            </a:r>
          </a:p>
          <a:p>
            <a:pPr marL="310896" indent="-310896" algn="l">
              <a:spcAft>
                <a:spcPts val="600"/>
              </a:spcAft>
              <a:buChar char="•"/>
            </a:pPr>
            <a:r>
              <a:rPr sz="2200" b="0">
                <a:solidFill>
                  <a:srgbClr val="222B38"/>
                </a:solidFill>
                <a:latin typeface="Calibri"/>
              </a:rPr>
              <a:t>24 games: 17 controversial, 4 well-received controls, 3 redemption stories</a:t>
            </a:r>
          </a:p>
          <a:p>
            <a:pPr marL="310896" indent="-310896" algn="l">
              <a:spcAft>
                <a:spcPts val="600"/>
              </a:spcAft>
              <a:buChar char="•"/>
            </a:pPr>
            <a:r>
              <a:rPr sz="2200" b="0">
                <a:solidFill>
                  <a:srgbClr val="222B38"/>
                </a:solidFill>
                <a:latin typeface="Calibri"/>
              </a:rPr>
              <a:t>Per game: up to 1,500 “most helpful” + 500 most recent English reviews, plus monthly review counts (all languages)</a:t>
            </a:r>
          </a:p>
          <a:p>
            <a:pPr marL="310896" indent="-310896" algn="l">
              <a:spcAft>
                <a:spcPts val="0"/>
              </a:spcAft>
              <a:buChar char="•"/>
            </a:pPr>
            <a:r>
              <a:rPr sz="2200" b="1">
                <a:solidFill>
                  <a:srgbClr val="222B38"/>
                </a:solidFill>
                <a:latin typeface="Calibri"/>
              </a:rPr>
              <a:t>Limitation: </a:t>
            </a:r>
            <a:r>
              <a:rPr sz="2200" b="0">
                <a:solidFill>
                  <a:srgbClr val="222B38"/>
                </a:solidFill>
                <a:latin typeface="Calibri"/>
              </a:rPr>
              <a:t>helpfulness ranking over-represents negative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1155680"/>
            <a:ext cx="10149840" cy="950976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1155680"/>
            <a:ext cx="1014984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1283696"/>
            <a:ext cx="1143000" cy="521207"/>
          </a:xfrm>
          <a:prstGeom prst="rect">
            <a:avLst/>
          </a:prstGeom>
          <a:solidFill>
            <a:srgbClr val="D93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11283696"/>
            <a:ext cx="1143000" cy="52120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1201400"/>
            <a:ext cx="86410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When do negative reviews spike?</a:t>
            </a:r>
          </a:p>
        </p:txBody>
      </p:sp>
      <p:pic>
        <p:nvPicPr>
          <p:cNvPr id="19" name="Picture 18" descr="WhatsApp_Image_2026-10-07_at_2_00_37_AM__1_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810" y="12070080"/>
            <a:ext cx="7931498" cy="6766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18882360"/>
            <a:ext cx="97840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22B38"/>
                </a:solidFill>
                <a:latin typeface="Calibri"/>
              </a:rPr>
              <a:t>Spikes follow decisions, not just quality: </a:t>
            </a:r>
            <a:r>
              <a:rPr sz="2100" b="0">
                <a:solidFill>
                  <a:srgbClr val="222B38"/>
                </a:solidFill>
                <a:latin typeface="Calibri"/>
              </a:rPr>
              <a:t>PSN requirement (Helldivers 2), bot crisis (TF2: 88% negative in one month), CS2 replacing CS:GO. None of the 4 control games spiked.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031200"/>
            <a:ext cx="10149840" cy="7406639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21031200"/>
            <a:ext cx="1014984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21159216"/>
            <a:ext cx="1143000" cy="521207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21159216"/>
            <a:ext cx="1143000" cy="52120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21076920"/>
            <a:ext cx="86410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Which words separate negative from positive?</a:t>
            </a:r>
          </a:p>
        </p:txBody>
      </p:sp>
      <p:pic>
        <p:nvPicPr>
          <p:cNvPr id="26" name="Picture 25" descr="WhatsApp_Image_2026-10-07_at_2_00_37_AM__3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060" y="21945600"/>
            <a:ext cx="6476999" cy="46634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26654760"/>
            <a:ext cx="97840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22B38"/>
                </a:solidFill>
                <a:latin typeface="Calibri"/>
              </a:rPr>
              <a:t>Negative reviews blame companies, money and technical failure </a:t>
            </a:r>
            <a:r>
              <a:rPr sz="2100" b="0">
                <a:solidFill>
                  <a:srgbClr val="222B38"/>
                </a:solidFill>
                <a:latin typeface="Calibri"/>
              </a:rPr>
              <a:t>(refund, scam, paywall, unplayable). Positive reviews praise the experience (masterpiece, breathtaking).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47120" y="3474720"/>
            <a:ext cx="10149840" cy="822960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247120" y="3474720"/>
            <a:ext cx="1014984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384280" y="3602736"/>
            <a:ext cx="1143000" cy="521207"/>
          </a:xfrm>
          <a:prstGeom prst="rect">
            <a:avLst/>
          </a:prstGeom>
          <a:solidFill>
            <a:srgbClr val="D93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384280" y="3602736"/>
            <a:ext cx="1143000" cy="52120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64440" y="3520439"/>
            <a:ext cx="86410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What are the complaints?</a:t>
            </a:r>
          </a:p>
        </p:txBody>
      </p:sp>
      <p:pic>
        <p:nvPicPr>
          <p:cNvPr id="33" name="Picture 32" descr="WhatsApp_Image_2026-10-07_at_2_00_40_AM__1_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4399735"/>
            <a:ext cx="6217920" cy="65624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7602200" y="4389120"/>
            <a:ext cx="3657600" cy="6583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10896" indent="-310896" algn="l">
              <a:spcAft>
                <a:spcPts val="800"/>
              </a:spcAft>
              <a:buChar char="•"/>
            </a:pPr>
            <a:r>
              <a:rPr sz="2000" b="1">
                <a:solidFill>
                  <a:srgbClr val="222B38"/>
                </a:solidFill>
                <a:latin typeface="Calibri"/>
              </a:rPr>
              <a:t>k-means (k = 9, TF-IDF) </a:t>
            </a:r>
            <a:r>
              <a:rPr sz="2000" b="0">
                <a:solidFill>
                  <a:srgbClr val="222B38"/>
                </a:solidFill>
                <a:latin typeface="Calibri"/>
              </a:rPr>
              <a:t>on 19,370 negative reviews gave 9 complaint types</a:t>
            </a:r>
          </a:p>
          <a:p>
            <a:pPr marL="310896" indent="-310896" algn="l">
              <a:spcAft>
                <a:spcPts val="800"/>
              </a:spcAft>
              <a:buChar char="•"/>
            </a:pPr>
            <a:r>
              <a:rPr sz="2000" b="1">
                <a:solidFill>
                  <a:srgbClr val="222B38"/>
                </a:solidFill>
                <a:latin typeface="Calibri"/>
              </a:rPr>
              <a:t>Most games have one dominant complaint: </a:t>
            </a:r>
            <a:r>
              <a:rPr sz="2000" b="0">
                <a:solidFill>
                  <a:srgbClr val="222B38"/>
                </a:solidFill>
                <a:latin typeface="Calibri"/>
              </a:rPr>
              <a:t>TF2 72% cheaters &amp; bots, Payday 3 55% servers, Overwatch 2 48% monetisation, Helldivers 2 62% dev decisions</a:t>
            </a:r>
          </a:p>
          <a:p>
            <a:pPr marL="310896" indent="-310896" algn="l">
              <a:spcAft>
                <a:spcPts val="0"/>
              </a:spcAft>
              <a:buChar char="•"/>
            </a:pPr>
            <a:r>
              <a:rPr sz="2000" b="1">
                <a:solidFill>
                  <a:srgbClr val="222B38"/>
                </a:solidFill>
                <a:latin typeface="Calibri"/>
              </a:rPr>
              <a:t>Caution: </a:t>
            </a:r>
            <a:r>
              <a:rPr sz="2000" b="0">
                <a:solidFill>
                  <a:srgbClr val="222B38"/>
                </a:solidFill>
                <a:latin typeface="Calibri"/>
              </a:rPr>
              <a:t>silhouette ≤ 0.008, so these are broad themes, not sharp groups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10881359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56070"/>
                </a:solidFill>
                <a:latin typeface="Calibri"/>
              </a:rPr>
              <a:t>Heatmap: share of each game’s negative reviews in each complaint type (columns).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47120" y="12070080"/>
            <a:ext cx="10149840" cy="969264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247120" y="12070080"/>
            <a:ext cx="1014984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384280" y="12198096"/>
            <a:ext cx="1143000" cy="521207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384280" y="12198096"/>
            <a:ext cx="1143000" cy="52120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64440" y="12115800"/>
            <a:ext cx="86410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Who shares players? Do they share complaints?</a:t>
            </a:r>
          </a:p>
        </p:txBody>
      </p:sp>
      <p:pic>
        <p:nvPicPr>
          <p:cNvPr id="41" name="Picture 40" descr="WhatsApp_Image_2026-10-07_at_2_00_37_AM__2_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0" y="12984480"/>
            <a:ext cx="7315200" cy="6217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430000" y="19248119"/>
            <a:ext cx="9784080" cy="24688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10896" indent="-310896" algn="l">
              <a:spcAft>
                <a:spcPts val="500"/>
              </a:spcAft>
              <a:buChar char="•"/>
            </a:pPr>
            <a:r>
              <a:rPr sz="2000" b="1">
                <a:solidFill>
                  <a:srgbClr val="222B38"/>
                </a:solidFill>
                <a:latin typeface="Calibri"/>
              </a:rPr>
              <a:t>Nodes = games; edges = shared reviewers, weighted by lift </a:t>
            </a:r>
            <a:r>
              <a:rPr sz="2000" b="0">
                <a:solidFill>
                  <a:srgbClr val="222B38"/>
                </a:solidFill>
                <a:latin typeface="Calibri"/>
              </a:rPr>
              <a:t>(vs. popularity). Raw graph was almost complete (273/276 edges), so only lift ≥ 1.3 is drawn.</a:t>
            </a:r>
          </a:p>
          <a:p>
            <a:pPr marL="310896" indent="-310896" algn="l">
              <a:spcAft>
                <a:spcPts val="500"/>
              </a:spcAft>
              <a:buChar char="•"/>
            </a:pPr>
            <a:r>
              <a:rPr sz="2000" b="1">
                <a:solidFill>
                  <a:srgbClr val="222B38"/>
                </a:solidFill>
                <a:latin typeface="Calibri"/>
              </a:rPr>
              <a:t>3 communities: </a:t>
            </a:r>
            <a:r>
              <a:rPr sz="2000" b="0">
                <a:solidFill>
                  <a:srgbClr val="222B38"/>
                </a:solidFill>
                <a:latin typeface="Calibri"/>
              </a:rPr>
              <a:t>Q = 0.113 vs 0.026 for random networks (p &lt; 0.005)</a:t>
            </a:r>
          </a:p>
          <a:p>
            <a:pPr marL="310896" indent="-310896" algn="l">
              <a:spcAft>
                <a:spcPts val="0"/>
              </a:spcAft>
              <a:buChar char="•"/>
            </a:pPr>
            <a:r>
              <a:rPr sz="2000" b="1">
                <a:solidFill>
                  <a:srgbClr val="222B38"/>
                </a:solidFill>
                <a:latin typeface="Calibri"/>
              </a:rPr>
              <a:t>Games that share players share complaints: </a:t>
            </a:r>
            <a:r>
              <a:rPr sz="2000" b="0">
                <a:solidFill>
                  <a:srgbClr val="222B38"/>
                </a:solidFill>
                <a:latin typeface="Calibri"/>
              </a:rPr>
              <a:t>ρ = 0.26, p = 0.001. Cyberpunk 2077 is the key bridge (betweenness 0.42).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47120" y="22128480"/>
            <a:ext cx="10149840" cy="6309359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247120" y="22128480"/>
            <a:ext cx="1014984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384280" y="22256496"/>
            <a:ext cx="1143000" cy="521207"/>
          </a:xfrm>
          <a:prstGeom prst="rect">
            <a:avLst/>
          </a:prstGeom>
          <a:solidFill>
            <a:srgbClr val="D93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384280" y="22256496"/>
            <a:ext cx="1143000" cy="52120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64440" y="22174200"/>
            <a:ext cx="86410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How do negative reviewers differ?</a:t>
            </a:r>
          </a:p>
        </p:txBody>
      </p:sp>
      <p:pic>
        <p:nvPicPr>
          <p:cNvPr id="48" name="Picture 47" descr="WhatsApp_Image_2026-10-07_at_2_00_39_AM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23879556"/>
            <a:ext cx="3931920" cy="3538728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15544800" y="23042880"/>
            <a:ext cx="5669279" cy="1676399"/>
          </a:xfrm>
          <a:prstGeom prst="rect">
            <a:avLst/>
          </a:prstGeom>
          <a:solidFill>
            <a:srgbClr val="FFFFFF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5636240" y="23070312"/>
            <a:ext cx="5486400" cy="838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9301F"/>
                </a:solidFill>
                <a:latin typeface="Calibri"/>
              </a:rPr>
              <a:t>26 h vs 52 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36240" y="23881080"/>
            <a:ext cx="5486400" cy="838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56070"/>
                </a:solidFill>
                <a:latin typeface="Calibri"/>
              </a:rPr>
              <a:t>median playtime, negative vs positive (Wilcoxon, p &lt; 10⁻¹⁶)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544800" y="24810720"/>
            <a:ext cx="5669279" cy="1676399"/>
          </a:xfrm>
          <a:prstGeom prst="rect">
            <a:avLst/>
          </a:prstGeom>
          <a:solidFill>
            <a:srgbClr val="FFFFFF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5636240" y="24838152"/>
            <a:ext cx="5486400" cy="838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9301F"/>
                </a:solidFill>
                <a:latin typeface="Calibri"/>
              </a:rPr>
              <a:t>24 vs 8 words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636240" y="25648920"/>
            <a:ext cx="5486400" cy="838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56070"/>
                </a:solidFill>
                <a:latin typeface="Calibri"/>
              </a:rPr>
              <a:t>median review length, negative vs positive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544800" y="26578560"/>
            <a:ext cx="5669279" cy="1676399"/>
          </a:xfrm>
          <a:prstGeom prst="rect">
            <a:avLst/>
          </a:prstGeom>
          <a:solidFill>
            <a:srgbClr val="FFFFFF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636240" y="26605992"/>
            <a:ext cx="5486400" cy="838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9301F"/>
                </a:solidFill>
                <a:latin typeface="Calibri"/>
              </a:rPr>
              <a:t>65% vs 16%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636240" y="27416760"/>
            <a:ext cx="5486400" cy="838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56070"/>
                </a:solidFill>
                <a:latin typeface="Calibri"/>
              </a:rPr>
              <a:t>got ≥ 1 helpful vote (χ², p &lt; 10⁻¹⁶)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28712160"/>
            <a:ext cx="6705600" cy="365760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28712160"/>
            <a:ext cx="670560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28757880"/>
            <a:ext cx="643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29580840"/>
            <a:ext cx="6339839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10896" indent="-310896" algn="l">
              <a:spcAft>
                <a:spcPts val="600"/>
              </a:spcAft>
              <a:buChar char="•"/>
            </a:pPr>
            <a:r>
              <a:rPr sz="1900" b="0">
                <a:solidFill>
                  <a:srgbClr val="222B38"/>
                </a:solidFill>
                <a:latin typeface="Calibri"/>
              </a:rPr>
              <a:t>Review negativity tracks decisions (platform, monetisation, servers, cheating), not just game quality</a:t>
            </a:r>
          </a:p>
          <a:p>
            <a:pPr marL="310896" indent="-310896" algn="l">
              <a:spcAft>
                <a:spcPts val="600"/>
              </a:spcAft>
              <a:buChar char="•"/>
            </a:pPr>
            <a:r>
              <a:rPr sz="1900" b="0">
                <a:solidFill>
                  <a:srgbClr val="222B38"/>
                </a:solidFill>
                <a:latin typeface="Calibri"/>
              </a:rPr>
              <a:t>Each game fails in its own way; games sharing players share complaints</a:t>
            </a:r>
          </a:p>
          <a:p>
            <a:pPr marL="310896" indent="-310896" algn="l">
              <a:spcAft>
                <a:spcPts val="0"/>
              </a:spcAft>
              <a:buChar char="•"/>
            </a:pPr>
            <a:r>
              <a:rPr sz="1900" b="0">
                <a:solidFill>
                  <a:srgbClr val="222B38"/>
                </a:solidFill>
                <a:latin typeface="Calibri"/>
              </a:rPr>
              <a:t>Loyal players lead protests against changes to their community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19999" y="28712160"/>
            <a:ext cx="6705600" cy="365760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619999" y="28712160"/>
            <a:ext cx="670560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02879" y="28757880"/>
            <a:ext cx="643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02880" y="29580840"/>
            <a:ext cx="6339839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10896" indent="-310896" algn="l">
              <a:spcAft>
                <a:spcPts val="600"/>
              </a:spcAft>
              <a:buChar char="•"/>
            </a:pPr>
            <a:r>
              <a:rPr sz="1900" b="0">
                <a:solidFill>
                  <a:srgbClr val="222B38"/>
                </a:solidFill>
                <a:latin typeface="Calibri"/>
              </a:rPr>
              <a:t>24 purposively chosen games, so not representative of Steam</a:t>
            </a:r>
          </a:p>
          <a:p>
            <a:pPr marL="310896" indent="-310896" algn="l">
              <a:spcAft>
                <a:spcPts val="600"/>
              </a:spcAft>
              <a:buChar char="•"/>
            </a:pPr>
            <a:r>
              <a:rPr sz="1900" b="0">
                <a:solidFill>
                  <a:srgbClr val="222B38"/>
                </a:solidFill>
                <a:latin typeface="Calibri"/>
              </a:rPr>
              <a:t>English-only text vs all-language monthly counts</a:t>
            </a:r>
          </a:p>
          <a:p>
            <a:pPr marL="310896" indent="-310896" algn="l">
              <a:spcAft>
                <a:spcPts val="600"/>
              </a:spcAft>
              <a:buChar char="•"/>
            </a:pPr>
            <a:r>
              <a:rPr sz="1900" b="0">
                <a:solidFill>
                  <a:srgbClr val="222B38"/>
                </a:solidFill>
                <a:latin typeface="Calibri"/>
              </a:rPr>
              <a:t>Helpfulness-ranked sample skews negative; clusters are weak</a:t>
            </a:r>
          </a:p>
          <a:p>
            <a:pPr marL="310896" indent="-310896" algn="l">
              <a:spcAft>
                <a:spcPts val="0"/>
              </a:spcAft>
              <a:buChar char="•"/>
            </a:pPr>
            <a:r>
              <a:rPr sz="1900" b="0">
                <a:solidFill>
                  <a:srgbClr val="222B38"/>
                </a:solidFill>
                <a:latin typeface="Calibri"/>
              </a:rPr>
              <a:t>Snapshot (29 Sep 2026); associations, not causation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691360" y="28712160"/>
            <a:ext cx="6705600" cy="3657600"/>
          </a:xfrm>
          <a:prstGeom prst="rect">
            <a:avLst/>
          </a:prstGeom>
          <a:solidFill>
            <a:srgbClr val="F3F5F8"/>
          </a:solidFill>
          <a:ln w="19050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4691360" y="28712160"/>
            <a:ext cx="670560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4874240" y="28757880"/>
            <a:ext cx="643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Code &amp; data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874240" y="29580840"/>
            <a:ext cx="6339839" cy="14044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dirty="0">
                <a:solidFill>
                  <a:srgbClr val="222B38"/>
                </a:solidFill>
                <a:latin typeface="Calibri"/>
              </a:rPr>
              <a:t>GitHub / GitLab: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222B38"/>
                </a:solidFill>
                <a:latin typeface="Calibri"/>
              </a:rPr>
              <a:t>[paste link here]</a:t>
            </a:r>
          </a:p>
          <a:p>
            <a:pPr algn="l">
              <a:spcAft>
                <a:spcPts val="0"/>
              </a:spcAft>
            </a:pPr>
            <a:r>
              <a:rPr sz="1900" b="0" dirty="0">
                <a:solidFill>
                  <a:srgbClr val="222B38"/>
                </a:solidFill>
                <a:latin typeface="Calibri"/>
              </a:rPr>
              <a:t>Python: data collection. R: tm, </a:t>
            </a:r>
            <a:r>
              <a:rPr sz="1900" b="0" dirty="0" err="1">
                <a:solidFill>
                  <a:srgbClr val="222B38"/>
                </a:solidFill>
                <a:latin typeface="Calibri"/>
              </a:rPr>
              <a:t>igraph</a:t>
            </a:r>
            <a:r>
              <a:rPr sz="1900" b="0" dirty="0">
                <a:solidFill>
                  <a:srgbClr val="222B38"/>
                </a:solidFill>
                <a:latin typeface="Calibri"/>
              </a:rPr>
              <a:t>, cluster, ggplot2. No API keys stored.</a:t>
            </a:r>
          </a:p>
        </p:txBody>
      </p:sp>
      <p:pic>
        <p:nvPicPr>
          <p:cNvPr id="72" name="Picture 71" descr="Western Sydney University - Wikipedia">
            <a:extLst>
              <a:ext uri="{FF2B5EF4-FFF2-40B4-BE49-F238E27FC236}">
                <a16:creationId xmlns:a16="http://schemas.microsoft.com/office/drawing/2014/main" id="{E2171CF4-4900-01C4-03E4-500723CC5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1000" y="249727"/>
            <a:ext cx="2346959" cy="2819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610</Words>
  <Application>Microsoft Office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Merina Phongsisattanak</cp:lastModifiedBy>
  <cp:revision>3</cp:revision>
  <dcterms:created xsi:type="dcterms:W3CDTF">2013-01-27T09:14:16Z</dcterms:created>
  <dcterms:modified xsi:type="dcterms:W3CDTF">2026-10-08T13:13:04Z</dcterms:modified>
  <cp:category/>
</cp:coreProperties>
</file>